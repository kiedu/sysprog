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Ubuntu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buntuMono-regular.fntdata"/><Relationship Id="rId10" Type="http://schemas.openxmlformats.org/officeDocument/2006/relationships/slide" Target="slides/slide5.xml"/><Relationship Id="rId13" Type="http://schemas.openxmlformats.org/officeDocument/2006/relationships/font" Target="fonts/UbuntuMono-italic.fntdata"/><Relationship Id="rId12" Type="http://schemas.openxmlformats.org/officeDocument/2006/relationships/font" Target="fonts/Ubuntu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Ubuntu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f87e85f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f87e85f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f87e85fa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f87e85fa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3a1369b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13a1369b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f2dedfae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f2dedfae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ypi.org/" TargetMode="External"/><Relationship Id="rId4" Type="http://schemas.openxmlformats.org/officeDocument/2006/relationships/hyperlink" Target="https://docs.python.org/uk/3/installing/index.html" TargetMode="External"/><Relationship Id="rId5" Type="http://schemas.openxmlformats.org/officeDocument/2006/relationships/image" Target="../media/image4.png"/><Relationship Id="rId6" Type="http://schemas.openxmlformats.org/officeDocument/2006/relationships/hyperlink" Target="https://docs.python.org/uk/3/library/venv.html" TargetMode="External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hyperlink" Target="https://www.w3schools.com/python/python_server.asp" TargetMode="External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pyenv/pyenv" TargetMode="External"/><Relationship Id="rId4" Type="http://schemas.openxmlformats.org/officeDocument/2006/relationships/hyperlink" Target="https://youtu.be/sRWigXi8g6I" TargetMode="External"/><Relationship Id="rId9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pythonguis.com/" TargetMode="External"/><Relationship Id="rId4" Type="http://schemas.openxmlformats.org/officeDocument/2006/relationships/hyperlink" Target="https://github.com/pyqt/examples" TargetMode="External"/><Relationship Id="rId10" Type="http://schemas.openxmlformats.org/officeDocument/2006/relationships/image" Target="../media/image3.png"/><Relationship Id="rId9" Type="http://schemas.openxmlformats.org/officeDocument/2006/relationships/image" Target="../media/image6.png"/><Relationship Id="rId5" Type="http://schemas.openxmlformats.org/officeDocument/2006/relationships/hyperlink" Target="https://realpython.com/qt-designer-python/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90725"/>
            <a:ext cx="8520600" cy="145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pyQt6</a:t>
            </a:r>
            <a:endParaRPr b="1" sz="1000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8275" y="184275"/>
            <a:ext cx="20955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72050" y="13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uk" sz="2820">
                <a:solidFill>
                  <a:srgbClr val="38761D"/>
                </a:solidFill>
                <a:latin typeface="Ubuntu Mono"/>
                <a:ea typeface="Ubuntu Mono"/>
                <a:cs typeface="Ubuntu Mono"/>
                <a:sym typeface="Ubuntu Mono"/>
              </a:rPr>
              <a:t>Before start</a:t>
            </a:r>
            <a:endParaRPr b="1" sz="2820">
              <a:solidFill>
                <a:srgbClr val="38761D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983050" y="1457275"/>
            <a:ext cx="6849000" cy="3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Ubuntu Mono"/>
                <a:ea typeface="Ubuntu Mono"/>
                <a:cs typeface="Ubuntu Mono"/>
                <a:sym typeface="Ubuntu Mono"/>
              </a:rPr>
              <a:t>pip </a:t>
            </a:r>
            <a:r>
              <a:rPr lang="uk">
                <a:latin typeface="Ubuntu Mono"/>
                <a:ea typeface="Ubuntu Mono"/>
                <a:cs typeface="Ubuntu Mono"/>
                <a:sym typeface="Ubuntu Mono"/>
              </a:rPr>
              <a:t>is the package installer for Python. You can use pip to install packages from the </a:t>
            </a:r>
            <a:r>
              <a:rPr lang="uk" u="sng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3"/>
              </a:rPr>
              <a:t>Python Package Index</a:t>
            </a:r>
            <a:r>
              <a:rPr lang="uk">
                <a:latin typeface="Ubuntu Mono"/>
                <a:ea typeface="Ubuntu Mono"/>
                <a:cs typeface="Ubuntu Mono"/>
                <a:sym typeface="Ubuntu Mono"/>
              </a:rPr>
              <a:t> and other indexes.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>
                <a:latin typeface="Ubuntu Mono"/>
                <a:ea typeface="Ubuntu Mono"/>
                <a:cs typeface="Ubuntu Mono"/>
                <a:sym typeface="Ubuntu Mono"/>
              </a:rPr>
              <a:t>The </a:t>
            </a:r>
            <a:r>
              <a:rPr b="1" lang="uk">
                <a:latin typeface="Ubuntu Mono"/>
                <a:ea typeface="Ubuntu Mono"/>
                <a:cs typeface="Ubuntu Mono"/>
                <a:sym typeface="Ubuntu Mono"/>
              </a:rPr>
              <a:t>venv</a:t>
            </a:r>
            <a:r>
              <a:rPr lang="uk">
                <a:latin typeface="Ubuntu Mono"/>
                <a:ea typeface="Ubuntu Mono"/>
                <a:cs typeface="Ubuntu Mono"/>
                <a:sym typeface="Ubuntu Mono"/>
              </a:rPr>
              <a:t> module supports creating lightweight «virtual environments», each with their own independent set of Python packages installed in their site directories. 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097200" y="994075"/>
            <a:ext cx="436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u="sng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4"/>
              </a:rPr>
              <a:t>https://docs.python.org/uk/3/installing/index.html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525" y="1516425"/>
            <a:ext cx="1318100" cy="9885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097200" y="3162487"/>
            <a:ext cx="397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u="sng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6"/>
              </a:rPr>
              <a:t>https://docs.python.org/uk/3/library/venv.html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07225" y="860725"/>
            <a:ext cx="655700" cy="6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07225" y="3028955"/>
            <a:ext cx="655700" cy="71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8100" y="3925559"/>
            <a:ext cx="1784950" cy="97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4537" y="-138287"/>
            <a:ext cx="2867025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4008" y="40250"/>
            <a:ext cx="6285491" cy="29647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157950" y="1763550"/>
            <a:ext cx="2759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35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pip install matplotlib</a:t>
            </a:r>
            <a:endParaRPr b="1" sz="135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19825" y="3005000"/>
            <a:ext cx="6177000" cy="2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77800" marR="1778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uk" sz="20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Example</a:t>
            </a:r>
            <a:endParaRPr sz="2000">
              <a:solidFill>
                <a:schemeClr val="dk1"/>
              </a:solidFill>
              <a:uFill>
                <a:noFill/>
              </a:uFill>
              <a:latin typeface="Ubuntu Mono"/>
              <a:ea typeface="Ubuntu Mono"/>
              <a:cs typeface="Ubuntu Mono"/>
              <a:sym typeface="Ubuntu Mono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uk" sz="125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Draw a line in a diagram from position (0,0) to position (6,250):</a:t>
            </a:r>
            <a:endParaRPr sz="125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uk" sz="1350">
                <a:solidFill>
                  <a:srgbClr val="0000CD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import</a:t>
            </a: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 matplotlib.pyplot </a:t>
            </a:r>
            <a:r>
              <a:rPr b="1" lang="uk" sz="1350">
                <a:solidFill>
                  <a:srgbClr val="0000CD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as</a:t>
            </a: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 plt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uk" sz="1350">
                <a:solidFill>
                  <a:srgbClr val="0000CD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import</a:t>
            </a: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 numpy </a:t>
            </a:r>
            <a:r>
              <a:rPr b="1" lang="uk" sz="1350">
                <a:solidFill>
                  <a:srgbClr val="0000CD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as</a:t>
            </a: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 np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xpoints = np.array([</a:t>
            </a:r>
            <a:r>
              <a:rPr b="1" lang="uk" sz="1350">
                <a:solidFill>
                  <a:srgbClr val="FF0000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0</a:t>
            </a: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b="1" lang="uk" sz="1350">
                <a:solidFill>
                  <a:srgbClr val="FF0000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6</a:t>
            </a: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])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ypoints = np.array([</a:t>
            </a:r>
            <a:r>
              <a:rPr b="1" lang="uk" sz="1350">
                <a:solidFill>
                  <a:srgbClr val="FF0000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0</a:t>
            </a: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b="1" lang="uk" sz="1350">
                <a:solidFill>
                  <a:srgbClr val="FF0000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250</a:t>
            </a: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])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plt.plot(xpoints, ypoints)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114300" marR="11430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uk" sz="1350">
                <a:solidFill>
                  <a:schemeClr val="dk1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plt.show()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0200" y="2978739"/>
            <a:ext cx="2867026" cy="2141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83100" y="-88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Ubuntu Mono"/>
                <a:ea typeface="Ubuntu Mono"/>
                <a:cs typeface="Ubuntu Mono"/>
                <a:sym typeface="Ubuntu Mono"/>
              </a:rPr>
              <a:t>Python3 Versions</a:t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791475" y="466675"/>
            <a:ext cx="7812300" cy="9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u="sng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3"/>
              </a:rPr>
              <a:t>https://github.com/pyenv/pyenv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uk" u="sng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4"/>
              </a:rPr>
              <a:t>https://youtu.be/sRWigXi8g6I</a:t>
            </a:r>
            <a:r>
              <a:rPr lang="uk">
                <a:latin typeface="Ubuntu Mono"/>
                <a:ea typeface="Ubuntu Mono"/>
                <a:cs typeface="Ubuntu Mono"/>
                <a:sym typeface="Ubuntu Mono"/>
              </a:rPr>
              <a:t> 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4353" y="0"/>
            <a:ext cx="2889644" cy="1871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8400" y="2729550"/>
            <a:ext cx="2201550" cy="2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1625" y="471725"/>
            <a:ext cx="447200" cy="4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925" y="708800"/>
            <a:ext cx="918950" cy="9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812400" y="1342000"/>
            <a:ext cx="5332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sudo apt install -y make build-essential libssl-dev zlib1g-dev libbz2-dev libreadline-dev libsqlite3-dev wget curl llvm libncurses5-dev libncursesw5-dev xz-utils tk-dev libffi-dev liblzma-dev python-openssl</a:t>
            </a:r>
            <a:endParaRPr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curl https://pyenv.run | bash</a:t>
            </a:r>
            <a:endParaRPr b="1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# Load pyenv automatically by appending</a:t>
            </a:r>
            <a:endParaRPr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# the following to </a:t>
            </a:r>
            <a:endParaRPr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# ~/.bash_profile if it exists, otherwise </a:t>
            </a:r>
            <a:r>
              <a:rPr b="1"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~/.profile (</a:t>
            </a: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for login shells)</a:t>
            </a:r>
            <a:endParaRPr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# and </a:t>
            </a:r>
            <a:r>
              <a:rPr b="1"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~/.bashrc </a:t>
            </a: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(for interactive shells) :</a:t>
            </a:r>
            <a:endParaRPr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export PYENV_ROOT="$HOME/.pyenv"</a:t>
            </a:r>
            <a:endParaRPr b="1" i="1"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[[ -d $PYENV_ROOT/bin ]] &amp;&amp; export PATH="$PYENV_ROOT/bin:$PATH"</a:t>
            </a:r>
            <a:endParaRPr b="1" i="1"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eval "$(pyenv init -)"</a:t>
            </a:r>
            <a:endParaRPr b="1" i="1"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# Restart your shell for the changes to take effect.</a:t>
            </a:r>
            <a:endParaRPr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# Load pyenv-virtualenv automatically by adding</a:t>
            </a:r>
            <a:endParaRPr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# the following to </a:t>
            </a:r>
            <a:r>
              <a:rPr b="1"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~/.bashrc</a:t>
            </a:r>
            <a:r>
              <a:rPr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:</a:t>
            </a:r>
            <a:endParaRPr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uk" sz="800">
                <a:highlight>
                  <a:srgbClr val="EFEFEF"/>
                </a:highlight>
                <a:latin typeface="Ubuntu Mono"/>
                <a:ea typeface="Ubuntu Mono"/>
                <a:cs typeface="Ubuntu Mono"/>
                <a:sym typeface="Ubuntu Mono"/>
              </a:rPr>
              <a:t>eval "$(pyenv virtualenv-init -)"</a:t>
            </a:r>
            <a:endParaRPr b="1" i="1" sz="800">
              <a:highlight>
                <a:srgbClr val="EFEFE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Ubuntu Mono"/>
                <a:ea typeface="Ubuntu Mono"/>
                <a:cs typeface="Ubuntu Mono"/>
                <a:sym typeface="Ubuntu Mono"/>
              </a:rPr>
              <a:t>pyenv versions</a:t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Ubuntu Mono"/>
                <a:ea typeface="Ubuntu Mono"/>
                <a:cs typeface="Ubuntu Mono"/>
                <a:sym typeface="Ubuntu Mono"/>
              </a:rPr>
              <a:t>pyenv install --list</a:t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Ubuntu Mono"/>
                <a:ea typeface="Ubuntu Mono"/>
                <a:cs typeface="Ubuntu Mono"/>
                <a:sym typeface="Ubuntu Mono"/>
              </a:rPr>
              <a:t>pyenv install 3.12</a:t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Ubuntu Mono"/>
                <a:ea typeface="Ubuntu Mono"/>
                <a:cs typeface="Ubuntu Mono"/>
                <a:sym typeface="Ubuntu Mono"/>
              </a:rPr>
              <a:t>pyenv global 3.12</a:t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Ubuntu Mono"/>
                <a:ea typeface="Ubuntu Mono"/>
                <a:cs typeface="Ubuntu Mono"/>
                <a:sym typeface="Ubuntu Mono"/>
              </a:rPr>
              <a:t>pyenv local 3.12</a:t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0800" y="1423075"/>
            <a:ext cx="447200" cy="4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87000" y="1422025"/>
            <a:ext cx="8545200" cy="31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u="sng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3"/>
              </a:rPr>
              <a:t>https://www.pythonguis.com/</a:t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u="sng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4"/>
              </a:rPr>
              <a:t>https://github.com/pyqt/examples</a:t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 u="sng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5"/>
              </a:rPr>
              <a:t>https://realpython.com/qt-designer-python/</a:t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570" y="108475"/>
            <a:ext cx="1556750" cy="1166075"/>
          </a:xfrm>
          <a:prstGeom prst="rect">
            <a:avLst/>
          </a:prstGeom>
          <a:noFill/>
          <a:ln>
            <a:noFill/>
          </a:ln>
          <a:effectLst>
            <a:outerShdw blurRad="685800" rotWithShape="0" algn="bl" dir="660000" dist="19050">
              <a:srgbClr val="000000">
                <a:alpha val="50000"/>
              </a:srgbClr>
            </a:outerShdw>
          </a:effectLst>
        </p:spPr>
      </p:pic>
      <p:pic>
        <p:nvPicPr>
          <p:cNvPr id="95" name="Google Shape;9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1275" y="108475"/>
            <a:ext cx="1429350" cy="204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20425" y="230450"/>
            <a:ext cx="1474951" cy="210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96976" y="3883120"/>
            <a:ext cx="3357350" cy="816955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8280000" dist="19050">
              <a:srgbClr val="000000">
                <a:alpha val="50000"/>
              </a:srgbClr>
            </a:outerShdw>
          </a:effectLst>
        </p:spPr>
      </p:pic>
      <p:pic>
        <p:nvPicPr>
          <p:cNvPr id="98" name="Google Shape;98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18877" y="2571750"/>
            <a:ext cx="3257474" cy="20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