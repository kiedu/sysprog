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Mono-bold.fntdata"/><Relationship Id="rId16" Type="http://schemas.openxmlformats.org/officeDocument/2006/relationships/font" Target="fonts/Ubuntu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buntuMono-boldItalic.fntdata"/><Relationship Id="rId6" Type="http://schemas.openxmlformats.org/officeDocument/2006/relationships/slide" Target="slides/slide1.xml"/><Relationship Id="rId18" Type="http://schemas.openxmlformats.org/officeDocument/2006/relationships/font" Target="fonts/Ubuntu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344bf8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344bf8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2f7ad5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f2f7ad5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344bf8b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0344bf8b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b9b6fd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b9b6fd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b9b6fd5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b9b6fd5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49fd5f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49fd5f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49fd5f5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49fd5f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249fd5f5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249fd5f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49fd5f5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249fd5f5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hyperlink" Target="https://doc.qt.io/qt-6/qtwidgets-module.html" TargetMode="External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0725"/>
            <a:ext cx="8520600" cy="14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pyQt6</a:t>
            </a:r>
            <a:endParaRPr b="1" sz="10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275" y="184275"/>
            <a:ext cx="20955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2050" y="13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82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Signals &amp; Slots</a:t>
            </a:r>
            <a:endParaRPr b="1" sz="282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95950" y="930725"/>
            <a:ext cx="8625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900">
                <a:latin typeface="Ubuntu Mono"/>
                <a:ea typeface="Ubuntu Mono"/>
                <a:cs typeface="Ubuntu Mono"/>
                <a:sym typeface="Ubuntu Mono"/>
              </a:rPr>
              <a:t>Signals</a:t>
            </a:r>
            <a:r>
              <a:rPr lang="uk" sz="1900">
                <a:latin typeface="Ubuntu Mono"/>
                <a:ea typeface="Ubuntu Mono"/>
                <a:cs typeface="Ubuntu Mono"/>
                <a:sym typeface="Ubuntu Mono"/>
              </a:rPr>
              <a:t> are </a:t>
            </a:r>
            <a:r>
              <a:rPr b="1" i="1" lang="uk" sz="1900">
                <a:latin typeface="Ubuntu Mono"/>
                <a:ea typeface="Ubuntu Mono"/>
                <a:cs typeface="Ubuntu Mono"/>
                <a:sym typeface="Ubuntu Mono"/>
              </a:rPr>
              <a:t>notifications</a:t>
            </a:r>
            <a:r>
              <a:rPr lang="uk" sz="1900">
                <a:latin typeface="Ubuntu Mono"/>
                <a:ea typeface="Ubuntu Mono"/>
                <a:cs typeface="Ubuntu Mono"/>
                <a:sym typeface="Ubuntu Mono"/>
              </a:rPr>
              <a:t> emitted by widgets when something happens.</a:t>
            </a:r>
            <a:endParaRPr sz="1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900">
                <a:latin typeface="Ubuntu Mono"/>
                <a:ea typeface="Ubuntu Mono"/>
                <a:cs typeface="Ubuntu Mono"/>
                <a:sym typeface="Ubuntu Mono"/>
              </a:rPr>
              <a:t>Slots</a:t>
            </a:r>
            <a:r>
              <a:rPr lang="uk" sz="1900">
                <a:latin typeface="Ubuntu Mono"/>
                <a:ea typeface="Ubuntu Mono"/>
                <a:cs typeface="Ubuntu Mono"/>
                <a:sym typeface="Ubuntu Mono"/>
              </a:rPr>
              <a:t> is the name Qt uses for the </a:t>
            </a:r>
            <a:r>
              <a:rPr b="1" i="1" lang="uk" sz="1900">
                <a:latin typeface="Ubuntu Mono"/>
                <a:ea typeface="Ubuntu Mono"/>
                <a:cs typeface="Ubuntu Mono"/>
                <a:sym typeface="Ubuntu Mono"/>
              </a:rPr>
              <a:t>receivers of signals</a:t>
            </a:r>
            <a:r>
              <a:rPr lang="uk" sz="190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endParaRPr sz="1900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2789" l="4436" r="7535" t="49227"/>
          <a:stretch/>
        </p:blipFill>
        <p:spPr>
          <a:xfrm>
            <a:off x="180900" y="1988425"/>
            <a:ext cx="8625899" cy="279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415600"/>
            <a:ext cx="3018624" cy="43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599" y="1833750"/>
            <a:ext cx="6082400" cy="1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231650" y="105450"/>
            <a:ext cx="760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820">
                <a:latin typeface="Ubuntu Mono"/>
                <a:ea typeface="Ubuntu Mono"/>
                <a:cs typeface="Ubuntu Mono"/>
                <a:sym typeface="Ubuntu Mono"/>
              </a:rPr>
              <a:t>Sample</a:t>
            </a:r>
            <a:endParaRPr b="1" sz="1820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76598" l="0" r="0" t="0"/>
          <a:stretch/>
        </p:blipFill>
        <p:spPr>
          <a:xfrm>
            <a:off x="3275400" y="0"/>
            <a:ext cx="5868599" cy="120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925" y="857000"/>
            <a:ext cx="2970600" cy="256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8779" y="1150200"/>
            <a:ext cx="5868600" cy="407637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30925" y="3967825"/>
            <a:ext cx="2813100" cy="83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Ubuntu Mono"/>
                <a:ea typeface="Ubuntu Mono"/>
                <a:cs typeface="Ubuntu Mono"/>
                <a:sym typeface="Ubuntu Mono"/>
              </a:rPr>
              <a:t>Clicked!</a:t>
            </a:r>
            <a:endParaRPr b="1">
              <a:solidFill>
                <a:schemeClr val="lt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Ubuntu Mono"/>
                <a:ea typeface="Ubuntu Mono"/>
                <a:cs typeface="Ubuntu Mono"/>
                <a:sym typeface="Ubuntu Mono"/>
              </a:rPr>
              <a:t>Clicked!</a:t>
            </a:r>
            <a:endParaRPr b="1">
              <a:solidFill>
                <a:schemeClr val="lt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Ubuntu Mono"/>
                <a:ea typeface="Ubuntu Mono"/>
                <a:cs typeface="Ubuntu Mono"/>
                <a:sym typeface="Ubuntu Mono"/>
              </a:rPr>
              <a:t>Clicked!</a:t>
            </a:r>
            <a:endParaRPr b="1">
              <a:solidFill>
                <a:schemeClr val="lt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2764175" y="2225325"/>
            <a:ext cx="12387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6"/>
          <p:cNvCxnSpPr/>
          <p:nvPr/>
        </p:nvCxnSpPr>
        <p:spPr>
          <a:xfrm flipH="1">
            <a:off x="3072125" y="3673925"/>
            <a:ext cx="601800" cy="29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 flipH="1">
            <a:off x="6193225" y="2571750"/>
            <a:ext cx="881700" cy="6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540050" y="131625"/>
            <a:ext cx="805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82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Widgets</a:t>
            </a:r>
            <a:endParaRPr b="1" sz="282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500" y="0"/>
            <a:ext cx="5441054" cy="49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0" y="4743300"/>
            <a:ext cx="53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4"/>
              </a:rPr>
              <a:t>https://doc.qt.io/qt-6/qtwidgets-module.html</a:t>
            </a: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 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050" y="816825"/>
            <a:ext cx="1664650" cy="350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540050" y="131625"/>
            <a:ext cx="805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82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Layouts</a:t>
            </a:r>
            <a:endParaRPr b="1" sz="282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375" y="860750"/>
            <a:ext cx="7461951" cy="24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1525" cy="1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025" y="2125700"/>
            <a:ext cx="5534725" cy="23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848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 rotWithShape="1">
          <a:blip r:embed="rId4">
            <a:alphaModFix/>
          </a:blip>
          <a:srcRect b="0" l="0" r="34823" t="0"/>
          <a:stretch/>
        </p:blipFill>
        <p:spPr>
          <a:xfrm>
            <a:off x="5201971" y="0"/>
            <a:ext cx="3942024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4824" y="2088750"/>
            <a:ext cx="3259175" cy="14637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483225" y="4931325"/>
            <a:ext cx="3010800" cy="21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5717148" y="1031258"/>
            <a:ext cx="3010800" cy="21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00" y="141413"/>
            <a:ext cx="8483601" cy="48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562250" cy="8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 b="36864" l="0" r="0" t="0"/>
          <a:stretch/>
        </p:blipFill>
        <p:spPr>
          <a:xfrm>
            <a:off x="0" y="883325"/>
            <a:ext cx="4113550" cy="387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4">
            <a:alphaModFix/>
          </a:blip>
          <a:srcRect b="0" l="0" r="0" t="62658"/>
          <a:stretch/>
        </p:blipFill>
        <p:spPr>
          <a:xfrm>
            <a:off x="3880775" y="-49575"/>
            <a:ext cx="4324200" cy="23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1700" y="2825095"/>
            <a:ext cx="2358825" cy="161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