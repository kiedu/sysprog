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Ubuntu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buntuMono-regular.fntdata"/><Relationship Id="rId10" Type="http://schemas.openxmlformats.org/officeDocument/2006/relationships/slide" Target="slides/slide5.xml"/><Relationship Id="rId13" Type="http://schemas.openxmlformats.org/officeDocument/2006/relationships/font" Target="fonts/UbuntuMono-italic.fntdata"/><Relationship Id="rId12" Type="http://schemas.openxmlformats.org/officeDocument/2006/relationships/font" Target="fonts/Ubuntu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Ubuntu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f906fde6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f906fde6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f906fde6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f906fde6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1071d4b12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1071d4b12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071d4b12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1071d4b12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790725"/>
            <a:ext cx="8520600" cy="145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0">
                <a:solidFill>
                  <a:srgbClr val="38761D"/>
                </a:solidFill>
                <a:latin typeface="Ubuntu Mono"/>
                <a:ea typeface="Ubuntu Mono"/>
                <a:cs typeface="Ubuntu Mono"/>
                <a:sym typeface="Ubuntu Mono"/>
              </a:rPr>
              <a:t>pyQt5</a:t>
            </a:r>
            <a:endParaRPr b="1" sz="10000">
              <a:solidFill>
                <a:srgbClr val="38761D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8275" y="184275"/>
            <a:ext cx="2095500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12875" y="67025"/>
            <a:ext cx="86679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 u="sng">
                <a:latin typeface="Ubuntu Mono"/>
                <a:ea typeface="Ubuntu Mono"/>
                <a:cs typeface="Ubuntu Mono"/>
                <a:sym typeface="Ubuntu Mono"/>
              </a:rPr>
              <a:t>## Very Simple App</a:t>
            </a:r>
            <a:endParaRPr b="1" sz="900" u="sng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Ubuntu Mono"/>
                <a:ea typeface="Ubuntu Mono"/>
                <a:cs typeface="Ubuntu Mono"/>
                <a:sym typeface="Ubuntu Mono"/>
              </a:rPr>
              <a:t>from PyQt5.QtWidgets import *</a:t>
            </a:r>
            <a:endParaRPr b="1"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app = QApplication([])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window = QWidget()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window.setGeometry(100,100,300,400) #x, y, width, height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window.setWindowTitle("Very Simple App")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window.show()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label = QLabel(window)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label.setText("Hello World!")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label.move(50,50)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label.show()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lineEdit = QLineEdit(window)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lineEdit.move(50,100)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lineEdit.show()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button = QPushButton(window)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button.setText("Press Me!")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button.move(50,150)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button.show()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radioButton1 = QRadioButton("Radio button 1", window)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radioButton1.move(50,200)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radioButton1.show()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radioButton2 = QRadioButton("Radio button 2", window)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radioButton2.move(50,250)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radioButton2.setChecked(True)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radioButton2.show()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Ubuntu Mono"/>
                <a:ea typeface="Ubuntu Mono"/>
                <a:cs typeface="Ubuntu Mono"/>
                <a:sym typeface="Ubuntu Mono"/>
              </a:rPr>
              <a:t>app.exec()</a:t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8875" y="855100"/>
            <a:ext cx="2625200" cy="3732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129050" y="129050"/>
            <a:ext cx="47760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import sys</a:t>
            </a:r>
            <a:endParaRPr b="1"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from PyQt5.QtCore import QSize, Qt</a:t>
            </a:r>
            <a:endParaRPr b="1"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from PyQt5.QtWidgets import </a:t>
            </a: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endParaRPr b="1"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    QApplication,</a:t>
            </a:r>
            <a:endParaRPr b="1"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    QMainWindow,</a:t>
            </a:r>
            <a:endParaRPr b="1"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    QPushButton</a:t>
            </a: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,</a:t>
            </a:r>
            <a:endParaRPr b="1"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    )</a:t>
            </a:r>
            <a:endParaRPr b="1"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class</a:t>
            </a: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MainWindow(QMainWindow):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</a:t>
            </a: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__init__(self):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super().__init__()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self.setWindowTitle("My App")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self.setFixedSize(QSize(400, 300))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button = QPushButton("Press Me!")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button.setCheckable(True)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button.clicked.connect(self.the_button_was_clicked)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# Set the central widget of the Window.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self.setCentralWidget(button)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#Action slot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</a:t>
            </a: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the_button_was_clicked(self):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print("Clicked!")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app = QApplication(sys.argv)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window = MainWindow()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window.show()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app.exec()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450" y="152400"/>
            <a:ext cx="3838575" cy="4076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5"/>
          <p:cNvCxnSpPr/>
          <p:nvPr/>
        </p:nvCxnSpPr>
        <p:spPr>
          <a:xfrm flipH="1" rot="10800000">
            <a:off x="2554550" y="2472800"/>
            <a:ext cx="2617800" cy="1216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5"/>
          <p:cNvCxnSpPr/>
          <p:nvPr/>
        </p:nvCxnSpPr>
        <p:spPr>
          <a:xfrm rot="10800000">
            <a:off x="5937350" y="693750"/>
            <a:ext cx="1023300" cy="94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" name="Google Shape;70;p15"/>
          <p:cNvCxnSpPr/>
          <p:nvPr/>
        </p:nvCxnSpPr>
        <p:spPr>
          <a:xfrm flipH="1">
            <a:off x="545075" y="2813900"/>
            <a:ext cx="202800" cy="562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0" y="0"/>
            <a:ext cx="62970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 u="sng">
                <a:latin typeface="Ubuntu Mono"/>
                <a:ea typeface="Ubuntu Mono"/>
                <a:cs typeface="Ubuntu Mono"/>
                <a:sym typeface="Ubuntu Mono"/>
              </a:rPr>
              <a:t>## Simple App with Layouts</a:t>
            </a:r>
            <a:endParaRPr b="1" sz="1000" u="sng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from PyQt5.QtWidgets import *</a:t>
            </a:r>
            <a:endParaRPr b="1"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from PyQt5.QtGui import QFont</a:t>
            </a:r>
            <a:endParaRPr b="1"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main():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	app = QApplication([])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	window = QWidget()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	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	window.setGeometry(100,100,200,300)	#x, y, width, height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	window.setWindowTitle("First App")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	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	#---------------------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	layout = QVBoxLayout()	#vertical layout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		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	</a:t>
            </a:r>
            <a:r>
              <a:rPr b="1" lang="uk" sz="1000">
                <a:solidFill>
                  <a:srgbClr val="B45F06"/>
                </a:solidFill>
                <a:latin typeface="Ubuntu Mono"/>
                <a:ea typeface="Ubuntu Mono"/>
                <a:cs typeface="Ubuntu Mono"/>
                <a:sym typeface="Ubuntu Mono"/>
              </a:rPr>
              <a:t>label = QLabel("Press the Button")</a:t>
            </a:r>
            <a:endParaRPr b="1" sz="1000">
              <a:solidFill>
                <a:srgbClr val="B45F0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rgbClr val="B45F06"/>
                </a:solidFill>
                <a:latin typeface="Ubuntu Mono"/>
                <a:ea typeface="Ubuntu Mono"/>
                <a:cs typeface="Ubuntu Mono"/>
                <a:sym typeface="Ubuntu Mono"/>
              </a:rPr>
              <a:t>	textbox = QTextEdit()</a:t>
            </a:r>
            <a:endParaRPr b="1" sz="1000">
              <a:solidFill>
                <a:srgbClr val="B45F0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rgbClr val="B45F06"/>
                </a:solidFill>
                <a:latin typeface="Ubuntu Mono"/>
                <a:ea typeface="Ubuntu Mono"/>
                <a:cs typeface="Ubuntu Mono"/>
                <a:sym typeface="Ubuntu Mono"/>
              </a:rPr>
              <a:t>	button = QPushButton("Press Me!")</a:t>
            </a:r>
            <a:endParaRPr b="1" sz="1000">
              <a:solidFill>
                <a:srgbClr val="B45F0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	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	</a:t>
            </a: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#button.clicked.connect(on_clicked)	#linked with simple on_clicked</a:t>
            </a:r>
            <a:endParaRPr b="1"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	</a:t>
            </a:r>
            <a:r>
              <a:rPr b="1" i="1" lang="uk" sz="1000">
                <a:latin typeface="Ubuntu Mono"/>
                <a:ea typeface="Ubuntu Mono"/>
                <a:cs typeface="Ubuntu Mono"/>
                <a:sym typeface="Ubuntu Mono"/>
              </a:rPr>
              <a:t>button.clicked.connect(lambda: on_clicked(textbox.toPlainText()))</a:t>
            </a:r>
            <a:endParaRPr b="1" i="1"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	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rgbClr val="38761D"/>
                </a:solidFill>
                <a:latin typeface="Ubuntu Mono"/>
                <a:ea typeface="Ubuntu Mono"/>
                <a:cs typeface="Ubuntu Mono"/>
                <a:sym typeface="Ubuntu Mono"/>
              </a:rPr>
              <a:t>	layout.addWidget(label)	</a:t>
            </a:r>
            <a:endParaRPr sz="1000">
              <a:solidFill>
                <a:srgbClr val="38761D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rgbClr val="38761D"/>
                </a:solidFill>
                <a:latin typeface="Ubuntu Mono"/>
                <a:ea typeface="Ubuntu Mono"/>
                <a:cs typeface="Ubuntu Mono"/>
                <a:sym typeface="Ubuntu Mono"/>
              </a:rPr>
              <a:t>	#or layout.addWidget(QLabel("Press the Button"))</a:t>
            </a:r>
            <a:endParaRPr sz="1000">
              <a:solidFill>
                <a:srgbClr val="38761D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rgbClr val="38761D"/>
                </a:solidFill>
                <a:latin typeface="Ubuntu Mono"/>
                <a:ea typeface="Ubuntu Mono"/>
                <a:cs typeface="Ubuntu Mono"/>
                <a:sym typeface="Ubuntu Mono"/>
              </a:rPr>
              <a:t>	layout.addWidget(textbox)</a:t>
            </a:r>
            <a:endParaRPr sz="1000">
              <a:solidFill>
                <a:srgbClr val="38761D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rgbClr val="38761D"/>
                </a:solidFill>
                <a:latin typeface="Ubuntu Mono"/>
                <a:ea typeface="Ubuntu Mono"/>
                <a:cs typeface="Ubuntu Mono"/>
                <a:sym typeface="Ubuntu Mono"/>
              </a:rPr>
              <a:t>	layout.addWidget(button)</a:t>
            </a:r>
            <a:endParaRPr sz="1000">
              <a:solidFill>
                <a:srgbClr val="38761D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rgbClr val="38761D"/>
                </a:solidFill>
                <a:latin typeface="Ubuntu Mono"/>
                <a:ea typeface="Ubuntu Mono"/>
                <a:cs typeface="Ubuntu Mono"/>
                <a:sym typeface="Ubuntu Mono"/>
              </a:rPr>
              <a:t>	</a:t>
            </a:r>
            <a:endParaRPr sz="1000">
              <a:solidFill>
                <a:srgbClr val="38761D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	window.setLayout(layout)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	#----------------------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	window.show()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	app.exec()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5031650" y="0"/>
            <a:ext cx="30000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# simple output</a:t>
            </a:r>
            <a:endParaRPr b="1"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#def on_clicked():</a:t>
            </a:r>
            <a:endParaRPr b="1"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	# print("Hello World!")</a:t>
            </a:r>
            <a:endParaRPr b="1"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	# or</a:t>
            </a:r>
            <a:endParaRPr b="1"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#	message = QMessageBox()</a:t>
            </a:r>
            <a:endParaRPr b="1"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#	message.setText("Hello World!")</a:t>
            </a:r>
            <a:endParaRPr b="1"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#</a:t>
            </a:r>
            <a:r>
              <a:rPr lang="uk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	message.exec()</a:t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# output textbox content</a:t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uk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on_clicked(msg):</a:t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	message = QMessageBox()</a:t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	message.setText(msg)</a:t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	message.exec()</a:t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if __name__ == "__main__":</a:t>
            </a:r>
            <a:endParaRPr b="1"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	main()</a:t>
            </a:r>
            <a:endParaRPr b="1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0413" y="1895463"/>
            <a:ext cx="1933575" cy="32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0" y="0"/>
            <a:ext cx="42138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 u="sng">
                <a:latin typeface="Ubuntu Mono"/>
                <a:ea typeface="Ubuntu Mono"/>
                <a:cs typeface="Ubuntu Mono"/>
                <a:sym typeface="Ubuntu Mono"/>
              </a:rPr>
              <a:t>#Basic app with Widgets</a:t>
            </a:r>
            <a:endParaRPr b="1" sz="1000" u="sng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import sys</a:t>
            </a:r>
            <a:endParaRPr b="1"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from PyQt5.QtCore import QSize, Qt</a:t>
            </a:r>
            <a:endParaRPr b="1"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from PyQt5</a:t>
            </a: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.QtGui import QPixmap</a:t>
            </a:r>
            <a:endParaRPr b="1"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from PyQt5</a:t>
            </a: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.QtWidgets import *</a:t>
            </a:r>
            <a:endParaRPr b="1"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class</a:t>
            </a: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MainWindow(QMainWindow):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 def</a:t>
            </a: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__init__(self):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super().__init__()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rgbClr val="0B5394"/>
                </a:solidFill>
                <a:latin typeface="Ubuntu Mono"/>
                <a:ea typeface="Ubuntu Mono"/>
                <a:cs typeface="Ubuntu Mono"/>
                <a:sym typeface="Ubuntu Mono"/>
              </a:rPr>
              <a:t>        self.setWindowTitle("My App")</a:t>
            </a:r>
            <a:endParaRPr sz="1000">
              <a:solidFill>
                <a:srgbClr val="0B5394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rgbClr val="0B5394"/>
                </a:solidFill>
                <a:latin typeface="Ubuntu Mono"/>
                <a:ea typeface="Ubuntu Mono"/>
                <a:cs typeface="Ubuntu Mono"/>
                <a:sym typeface="Ubuntu Mono"/>
              </a:rPr>
              <a:t>        self.setFixedSize(QSize(400, 500))</a:t>
            </a:r>
            <a:endParaRPr sz="1000">
              <a:solidFill>
                <a:srgbClr val="0B5394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</a:t>
            </a:r>
            <a:r>
              <a:rPr lang="uk" sz="1000">
                <a:solidFill>
                  <a:srgbClr val="9900FF"/>
                </a:solidFill>
                <a:latin typeface="Ubuntu Mono"/>
                <a:ea typeface="Ubuntu Mono"/>
                <a:cs typeface="Ubuntu Mono"/>
                <a:sym typeface="Ubuntu Mono"/>
              </a:rPr>
              <a:t>  layout = QVBoxLayout()</a:t>
            </a:r>
            <a:endParaRPr sz="1000">
              <a:solidFill>
                <a:srgbClr val="9900FF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r>
              <a:rPr lang="uk" sz="1000">
                <a:solidFill>
                  <a:srgbClr val="B45F06"/>
                </a:solidFill>
                <a:latin typeface="Ubuntu Mono"/>
                <a:ea typeface="Ubuntu Mono"/>
                <a:cs typeface="Ubuntu Mono"/>
                <a:sym typeface="Ubuntu Mono"/>
              </a:rPr>
              <a:t>label = QLabel("Hello, World!")</a:t>
            </a:r>
            <a:endParaRPr sz="1000">
              <a:solidFill>
                <a:srgbClr val="B45F0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r>
              <a:rPr lang="uk" sz="10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img = QLabel("tux")</a:t>
            </a:r>
            <a:endParaRPr sz="10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        img.setPixmap(QPixmap("tux.png"))</a:t>
            </a:r>
            <a:endParaRPr sz="10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r>
              <a:rPr lang="uk" sz="1000">
                <a:solidFill>
                  <a:srgbClr val="38761D"/>
                </a:solidFill>
                <a:latin typeface="Ubuntu Mono"/>
                <a:ea typeface="Ubuntu Mono"/>
                <a:cs typeface="Ubuntu Mono"/>
                <a:sym typeface="Ubuntu Mono"/>
              </a:rPr>
              <a:t>button = QPushButton("Press Me!")</a:t>
            </a:r>
            <a:endParaRPr sz="1000">
              <a:solidFill>
                <a:srgbClr val="38761D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rgbClr val="38761D"/>
                </a:solidFill>
                <a:latin typeface="Ubuntu Mono"/>
                <a:ea typeface="Ubuntu Mono"/>
                <a:cs typeface="Ubuntu Mono"/>
                <a:sym typeface="Ubuntu Mono"/>
              </a:rPr>
              <a:t>        button.clicked.connect(self.the_button_was_clicked)</a:t>
            </a:r>
            <a:endParaRPr sz="1000">
              <a:solidFill>
                <a:srgbClr val="38761D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r>
              <a:rPr lang="uk" sz="1000">
                <a:solidFill>
                  <a:srgbClr val="1155CC"/>
                </a:solidFill>
                <a:latin typeface="Ubuntu Mono"/>
                <a:ea typeface="Ubuntu Mono"/>
                <a:cs typeface="Ubuntu Mono"/>
                <a:sym typeface="Ubuntu Mono"/>
              </a:rPr>
              <a:t>lineedit = QLineEdit()</a:t>
            </a:r>
            <a:endParaRPr sz="1000">
              <a:solidFill>
                <a:srgbClr val="1155CC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rgbClr val="1155CC"/>
                </a:solidFill>
                <a:latin typeface="Ubuntu Mono"/>
                <a:ea typeface="Ubuntu Mono"/>
                <a:cs typeface="Ubuntu Mono"/>
                <a:sym typeface="Ubuntu Mono"/>
              </a:rPr>
              <a:t>        lineedit.setMaxLength(10)</a:t>
            </a:r>
            <a:endParaRPr sz="1000">
              <a:solidFill>
                <a:srgbClr val="1155CC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rgbClr val="1155CC"/>
                </a:solidFill>
                <a:latin typeface="Ubuntu Mono"/>
                <a:ea typeface="Ubuntu Mono"/>
                <a:cs typeface="Ubuntu Mono"/>
                <a:sym typeface="Ubuntu Mono"/>
              </a:rPr>
              <a:t>        lineedit.setPlaceholderText("Enter your text")</a:t>
            </a:r>
            <a:endParaRPr sz="1000">
              <a:solidFill>
                <a:srgbClr val="1155CC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uk" sz="1000">
                <a:solidFill>
                  <a:srgbClr val="741B47"/>
                </a:solidFill>
                <a:latin typeface="Ubuntu Mono"/>
                <a:ea typeface="Ubuntu Mono"/>
                <a:cs typeface="Ubuntu Mono"/>
                <a:sym typeface="Ubuntu Mono"/>
              </a:rPr>
              <a:t> checkbox = QCheckBox("This is a checkbox")</a:t>
            </a:r>
            <a:endParaRPr sz="1000">
              <a:solidFill>
                <a:srgbClr val="741B47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rgbClr val="741B47"/>
                </a:solidFill>
                <a:latin typeface="Ubuntu Mono"/>
                <a:ea typeface="Ubuntu Mono"/>
                <a:cs typeface="Ubuntu Mono"/>
                <a:sym typeface="Ubuntu Mono"/>
              </a:rPr>
              <a:t>        checkbox.setCheckState(Qt.CheckState.Checked)</a:t>
            </a:r>
            <a:endParaRPr sz="1000">
              <a:solidFill>
                <a:srgbClr val="741B47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r>
              <a:rPr lang="uk" sz="1000">
                <a:solidFill>
                  <a:srgbClr val="B45F06"/>
                </a:solidFill>
                <a:latin typeface="Ubuntu Mono"/>
                <a:ea typeface="Ubuntu Mono"/>
                <a:cs typeface="Ubuntu Mono"/>
                <a:sym typeface="Ubuntu Mono"/>
              </a:rPr>
              <a:t>combobox = QComboBox()</a:t>
            </a:r>
            <a:endParaRPr sz="1000">
              <a:solidFill>
                <a:srgbClr val="B45F0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rgbClr val="B45F06"/>
                </a:solidFill>
                <a:latin typeface="Ubuntu Mono"/>
                <a:ea typeface="Ubuntu Mono"/>
                <a:cs typeface="Ubuntu Mono"/>
                <a:sym typeface="Ubuntu Mono"/>
              </a:rPr>
              <a:t>        combobox.addItems(["One", "Two", "Three"])</a:t>
            </a:r>
            <a:endParaRPr sz="1000">
              <a:solidFill>
                <a:srgbClr val="B45F0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4037825" y="43625"/>
            <a:ext cx="51063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r>
              <a:rPr lang="uk" sz="1000">
                <a:solidFill>
                  <a:srgbClr val="134F5C"/>
                </a:solidFill>
                <a:latin typeface="Ubuntu Mono"/>
                <a:ea typeface="Ubuntu Mono"/>
                <a:cs typeface="Ubuntu Mono"/>
                <a:sym typeface="Ubuntu Mono"/>
              </a:rPr>
              <a:t>listwidget = QListWidget()</a:t>
            </a:r>
            <a:endParaRPr sz="1000">
              <a:solidFill>
                <a:srgbClr val="134F5C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rgbClr val="134F5C"/>
                </a:solidFill>
                <a:latin typeface="Ubuntu Mono"/>
                <a:ea typeface="Ubuntu Mono"/>
                <a:cs typeface="Ubuntu Mono"/>
                <a:sym typeface="Ubuntu Mono"/>
              </a:rPr>
              <a:t>        listwidget.addItems(["One", "Two", "Three"])</a:t>
            </a:r>
            <a:endParaRPr sz="1000">
              <a:solidFill>
                <a:srgbClr val="134F5C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r>
              <a:rPr lang="uk" sz="1000">
                <a:solidFill>
                  <a:srgbClr val="FF00FF"/>
                </a:solidFill>
                <a:latin typeface="Ubuntu Mono"/>
                <a:ea typeface="Ubuntu Mono"/>
                <a:cs typeface="Ubuntu Mono"/>
                <a:sym typeface="Ubuntu Mono"/>
              </a:rPr>
              <a:t>dial = QDial()</a:t>
            </a:r>
            <a:endParaRPr sz="1000">
              <a:solidFill>
                <a:srgbClr val="FF00FF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rgbClr val="FF00FF"/>
                </a:solidFill>
                <a:latin typeface="Ubuntu Mono"/>
                <a:ea typeface="Ubuntu Mono"/>
                <a:cs typeface="Ubuntu Mono"/>
                <a:sym typeface="Ubuntu Mono"/>
              </a:rPr>
              <a:t>        dial.setRange(-10, 100)</a:t>
            </a:r>
            <a:endParaRPr sz="1000">
              <a:solidFill>
                <a:srgbClr val="FF00FF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rgbClr val="FF00FF"/>
                </a:solidFill>
                <a:latin typeface="Ubuntu Mono"/>
                <a:ea typeface="Ubuntu Mono"/>
                <a:cs typeface="Ubuntu Mono"/>
                <a:sym typeface="Ubuntu Mono"/>
              </a:rPr>
              <a:t>        dial.setSingleStep(1)</a:t>
            </a:r>
            <a:endParaRPr sz="1000">
              <a:solidFill>
                <a:srgbClr val="FF00FF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r>
              <a:rPr lang="uk" sz="1000">
                <a:solidFill>
                  <a:schemeClr val="accent5"/>
                </a:solidFill>
                <a:latin typeface="Ubuntu Mono"/>
                <a:ea typeface="Ubuntu Mono"/>
                <a:cs typeface="Ubuntu Mono"/>
                <a:sym typeface="Ubuntu Mono"/>
              </a:rPr>
              <a:t>layout.addWidget(label)</a:t>
            </a:r>
            <a:endParaRPr sz="1000">
              <a:solidFill>
                <a:schemeClr val="accent5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accent5"/>
                </a:solidFill>
                <a:latin typeface="Ubuntu Mono"/>
                <a:ea typeface="Ubuntu Mono"/>
                <a:cs typeface="Ubuntu Mono"/>
                <a:sym typeface="Ubuntu Mono"/>
              </a:rPr>
              <a:t>        layout.addWidget(img)</a:t>
            </a:r>
            <a:endParaRPr sz="1000">
              <a:solidFill>
                <a:schemeClr val="accent5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accent5"/>
                </a:solidFill>
                <a:latin typeface="Ubuntu Mono"/>
                <a:ea typeface="Ubuntu Mono"/>
                <a:cs typeface="Ubuntu Mono"/>
                <a:sym typeface="Ubuntu Mono"/>
              </a:rPr>
              <a:t>        layout.addWidget(button)</a:t>
            </a:r>
            <a:endParaRPr sz="1000">
              <a:solidFill>
                <a:schemeClr val="accent5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accent5"/>
                </a:solidFill>
                <a:latin typeface="Ubuntu Mono"/>
                <a:ea typeface="Ubuntu Mono"/>
                <a:cs typeface="Ubuntu Mono"/>
                <a:sym typeface="Ubuntu Mono"/>
              </a:rPr>
              <a:t>        layout.addWidget(lineedit)</a:t>
            </a:r>
            <a:endParaRPr sz="1000">
              <a:solidFill>
                <a:schemeClr val="accent5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accent5"/>
                </a:solidFill>
                <a:latin typeface="Ubuntu Mono"/>
                <a:ea typeface="Ubuntu Mono"/>
                <a:cs typeface="Ubuntu Mono"/>
                <a:sym typeface="Ubuntu Mono"/>
              </a:rPr>
              <a:t>        layout.addWidget(checkbox)</a:t>
            </a:r>
            <a:endParaRPr sz="1000">
              <a:solidFill>
                <a:schemeClr val="accent5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accent5"/>
                </a:solidFill>
                <a:latin typeface="Ubuntu Mono"/>
                <a:ea typeface="Ubuntu Mono"/>
                <a:cs typeface="Ubuntu Mono"/>
                <a:sym typeface="Ubuntu Mono"/>
              </a:rPr>
              <a:t>        layout.addWidget(combobox)</a:t>
            </a:r>
            <a:endParaRPr sz="1000">
              <a:solidFill>
                <a:schemeClr val="accent5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accent5"/>
                </a:solidFill>
                <a:latin typeface="Ubuntu Mono"/>
                <a:ea typeface="Ubuntu Mono"/>
                <a:cs typeface="Ubuntu Mono"/>
                <a:sym typeface="Ubuntu Mono"/>
              </a:rPr>
              <a:t>        layout.addWidget(listwidget)</a:t>
            </a:r>
            <a:endParaRPr sz="1000">
              <a:solidFill>
                <a:schemeClr val="accent5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accent5"/>
                </a:solidFill>
                <a:latin typeface="Ubuntu Mono"/>
                <a:ea typeface="Ubuntu Mono"/>
                <a:cs typeface="Ubuntu Mono"/>
                <a:sym typeface="Ubuntu Mono"/>
              </a:rPr>
              <a:t>        layout.addWidget(dial)</a:t>
            </a:r>
            <a:endParaRPr sz="1000">
              <a:solidFill>
                <a:schemeClr val="accent5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r>
              <a:rPr lang="uk" sz="1000">
                <a:solidFill>
                  <a:schemeClr val="accent5"/>
                </a:solidFill>
                <a:latin typeface="Ubuntu Mono"/>
                <a:ea typeface="Ubuntu Mono"/>
                <a:cs typeface="Ubuntu Mono"/>
                <a:sym typeface="Ubuntu Mono"/>
              </a:rPr>
              <a:t>widget = QWidget()</a:t>
            </a:r>
            <a:endParaRPr sz="1000">
              <a:solidFill>
                <a:schemeClr val="accent5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accent5"/>
                </a:solidFill>
                <a:latin typeface="Ubuntu Mono"/>
                <a:ea typeface="Ubuntu Mono"/>
                <a:cs typeface="Ubuntu Mono"/>
                <a:sym typeface="Ubuntu Mono"/>
              </a:rPr>
              <a:t>        widget.setLayout(layout)</a:t>
            </a:r>
            <a:endParaRPr sz="1000">
              <a:solidFill>
                <a:schemeClr val="accent5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accent5"/>
                </a:solidFill>
                <a:latin typeface="Ubuntu Mono"/>
                <a:ea typeface="Ubuntu Mono"/>
                <a:cs typeface="Ubuntu Mono"/>
                <a:sym typeface="Ubuntu Mono"/>
              </a:rPr>
              <a:t>        self.setCentralWidget(widget)</a:t>
            </a:r>
            <a:endParaRPr sz="1000">
              <a:solidFill>
                <a:schemeClr val="accent5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</a:t>
            </a:r>
            <a:r>
              <a:rPr b="1" lang="uk" sz="1000"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the_button_was_clicked(self):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        print("Clicked!")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app = QApplication(sys.argv)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window = MainWindow()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window.show()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Ubuntu Mono"/>
                <a:ea typeface="Ubuntu Mono"/>
                <a:cs typeface="Ubuntu Mono"/>
                <a:sym typeface="Ubuntu Mono"/>
              </a:rPr>
              <a:t>app.exec()</a:t>
            </a:r>
            <a:endParaRPr sz="1000"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4150" y="2020800"/>
            <a:ext cx="2299850" cy="308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