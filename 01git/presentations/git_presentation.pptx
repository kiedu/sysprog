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Ubuntu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buntuMono-bold.fntdata"/><Relationship Id="rId16" Type="http://schemas.openxmlformats.org/officeDocument/2006/relationships/font" Target="fonts/UbuntuMon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UbuntuMon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buntu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72c60a44df_2_77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172c60a44df_2_77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72c60a44df_2_83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172c60a44df_2_83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72c60a44df_2_96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172c60a44df_2_96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72c60a44df_2_103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172c60a44df_2_103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72c60a44df_2_113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72c60a44df_2_113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72c60a44df_2_120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172c60a44df_2_120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72c60a44df_2_127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172c60a44df_2_127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72c60a44df_2_132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172c60a44df_2_132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72c60a44df_2_137:notes"/>
          <p:cNvSpPr txBox="1"/>
          <p:nvPr>
            <p:ph idx="1" type="body"/>
          </p:nvPr>
        </p:nvSpPr>
        <p:spPr>
          <a:xfrm>
            <a:off x="686599" y="4401236"/>
            <a:ext cx="5486661" cy="3599851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172c60a44df_2_137:notes"/>
          <p:cNvSpPr/>
          <p:nvPr>
            <p:ph idx="2" type="sldImg"/>
          </p:nvPr>
        </p:nvSpPr>
        <p:spPr>
          <a:xfrm>
            <a:off x="465906" y="1143215"/>
            <a:ext cx="5928046" cy="30863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/>
          <p:cNvPicPr preferRelativeResize="0"/>
          <p:nvPr/>
        </p:nvPicPr>
        <p:blipFill rotWithShape="1">
          <a:blip r:embed="rId2">
            <a:alphaModFix/>
          </a:blip>
          <a:srcRect b="3794" l="0" r="0" t="0"/>
          <a:stretch/>
        </p:blipFill>
        <p:spPr>
          <a:xfrm>
            <a:off x="0" y="195263"/>
            <a:ext cx="9144000" cy="494823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 txBox="1"/>
          <p:nvPr>
            <p:ph type="ctrTitle"/>
          </p:nvPr>
        </p:nvSpPr>
        <p:spPr>
          <a:xfrm>
            <a:off x="468313" y="465535"/>
            <a:ext cx="8207375" cy="812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469900" y="1382316"/>
            <a:ext cx="8212138" cy="7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lvl="2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881063"/>
            <a:ext cx="40386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881063"/>
            <a:ext cx="40386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30238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30238" y="1260872"/>
            <a:ext cx="3868737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30238" y="1878806"/>
            <a:ext cx="3868737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788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788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3887788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630238" y="1543050"/>
            <a:ext cx="2949575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2714625" y="-1376362"/>
            <a:ext cx="371475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 rot="5400000">
            <a:off x="5431631" y="1340644"/>
            <a:ext cx="445293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1240631" y="-640556"/>
            <a:ext cx="4452938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30.png"/><Relationship Id="rId6" Type="http://schemas.openxmlformats.org/officeDocument/2006/relationships/image" Target="../media/image3.png"/><Relationship Id="rId7" Type="http://schemas.openxmlformats.org/officeDocument/2006/relationships/image" Target="../media/image28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hyperlink" Target="https://git-scm.com/" TargetMode="External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-scm.com/book/en/v2" TargetMode="External"/><Relationship Id="rId4" Type="http://schemas.openxmlformats.org/officeDocument/2006/relationships/hyperlink" Target="https://www.w3schools.com/git/" TargetMode="External"/><Relationship Id="rId5" Type="http://schemas.openxmlformats.org/officeDocument/2006/relationships/hyperlink" Target="https://learngitbranching.js.org/?locale=uk" TargetMode="External"/><Relationship Id="rId6" Type="http://schemas.openxmlformats.org/officeDocument/2006/relationships/hyperlink" Target="https://learngitbranching.js.org/?locale=uk" TargetMode="External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27501" l="10611" r="10981" t="27854"/>
          <a:stretch/>
        </p:blipFill>
        <p:spPr>
          <a:xfrm>
            <a:off x="2270760" y="821531"/>
            <a:ext cx="5708333" cy="243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026" y="1926907"/>
            <a:ext cx="4446270" cy="2868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79534" y="125730"/>
            <a:ext cx="4777264" cy="12225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Система керування версіями</a:t>
            </a:r>
            <a:r>
              <a:rPr b="0" i="0" lang="uk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(СКВ, англ. source code management, SCM) — програмний інструмент для керування версіями одиниці інформації: початкового коду програми, скрипту, вебсторінки, вебсайту, 3D-моделі, текстового документу тощо.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9219" y="178118"/>
            <a:ext cx="1877378" cy="83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4223" y="125730"/>
            <a:ext cx="1571625" cy="1607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121" y="2298859"/>
            <a:ext cx="2411254" cy="228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4188" y="2304097"/>
            <a:ext cx="2928938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39802" y="2304097"/>
            <a:ext cx="2993231" cy="227885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1063224" y="1907375"/>
            <a:ext cx="1093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1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Local</a:t>
            </a:r>
            <a:endParaRPr b="1" i="0" sz="21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3686427" y="1907375"/>
            <a:ext cx="1877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1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Centralized</a:t>
            </a:r>
            <a:endParaRPr b="1" i="0" sz="21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6520227" y="1907375"/>
            <a:ext cx="19773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100" u="none" cap="none" strike="noStrike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Distributed</a:t>
            </a:r>
            <a:endParaRPr b="1" i="0" sz="21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1039" y="1075372"/>
            <a:ext cx="413861" cy="47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3024100" y="4582950"/>
            <a:ext cx="2928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SVN, Team Foundation Server</a:t>
            </a:r>
            <a:endParaRPr b="1" i="0" sz="16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6104125" y="4588175"/>
            <a:ext cx="2928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git, mercurial</a:t>
            </a:r>
            <a:endParaRPr b="1" i="0" sz="1600" u="none" cap="none" strike="noStrike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-2022-10-19_Oct-10-1666190832_919x195_snip"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0" t="17368"/>
          <a:stretch/>
        </p:blipFill>
        <p:spPr>
          <a:xfrm>
            <a:off x="839629" y="3090862"/>
            <a:ext cx="7610475" cy="13344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419300" y="197175"/>
            <a:ext cx="59337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="0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розподілена система керування версіями файлів та спільної роботи.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Проєкт створив </a:t>
            </a:r>
            <a:r>
              <a:rPr b="1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Лінус Торвальдс</a:t>
            </a:r>
            <a:r>
              <a:rPr b="0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2005 р.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керування розробкою ядра Linux.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6533" y="355283"/>
            <a:ext cx="1608296" cy="239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7534" y="1506379"/>
            <a:ext cx="2255520" cy="112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 rotWithShape="1">
          <a:blip r:embed="rId3">
            <a:alphaModFix/>
          </a:blip>
          <a:srcRect b="0" l="16268" r="20797" t="0"/>
          <a:stretch/>
        </p:blipFill>
        <p:spPr>
          <a:xfrm>
            <a:off x="7193756" y="2046446"/>
            <a:ext cx="1542098" cy="105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4798" y="1966913"/>
            <a:ext cx="1331119" cy="700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 rotWithShape="1">
          <a:blip r:embed="rId5">
            <a:alphaModFix/>
          </a:blip>
          <a:srcRect b="0" l="12034" r="12859" t="0"/>
          <a:stretch/>
        </p:blipFill>
        <p:spPr>
          <a:xfrm>
            <a:off x="69056" y="2667000"/>
            <a:ext cx="2685098" cy="187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2311" y="2496503"/>
            <a:ext cx="3015615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82314" y="2947988"/>
            <a:ext cx="1941195" cy="1917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 rotWithShape="1">
          <a:blip r:embed="rId8">
            <a:alphaModFix/>
          </a:blip>
          <a:srcRect b="53649" l="1173" r="3066" t="1832"/>
          <a:stretch/>
        </p:blipFill>
        <p:spPr>
          <a:xfrm>
            <a:off x="1597343" y="392906"/>
            <a:ext cx="5829776" cy="157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64755" y="547688"/>
            <a:ext cx="976313" cy="97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0" y="192405"/>
            <a:ext cx="1731169" cy="973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 rotWithShape="1">
          <a:blip r:embed="rId4">
            <a:alphaModFix/>
          </a:blip>
          <a:srcRect b="25347" l="11989" r="13322" t="7389"/>
          <a:stretch/>
        </p:blipFill>
        <p:spPr>
          <a:xfrm>
            <a:off x="3251835" y="10478"/>
            <a:ext cx="2133124" cy="73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1225" y="542449"/>
            <a:ext cx="2689384" cy="38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751" y="983932"/>
            <a:ext cx="6723698" cy="3986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441" y="2188845"/>
            <a:ext cx="4683442" cy="240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" y="268605"/>
            <a:ext cx="4842034" cy="180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 rotWithShape="1">
          <a:blip r:embed="rId5">
            <a:alphaModFix/>
          </a:blip>
          <a:srcRect b="27501" l="10611" r="10981" t="27854"/>
          <a:stretch/>
        </p:blipFill>
        <p:spPr>
          <a:xfrm>
            <a:off x="91440" y="80963"/>
            <a:ext cx="1437799" cy="613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8858" y="80963"/>
            <a:ext cx="1115854" cy="1350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" y="3143250"/>
            <a:ext cx="5741194" cy="1487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9806" y="88106"/>
            <a:ext cx="6024563" cy="3938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582454" y="1285399"/>
            <a:ext cx="83511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" sz="3000" u="sng" cap="none" strike="noStrike">
                <a:solidFill>
                  <a:srgbClr val="DE4C36"/>
                </a:solidFill>
                <a:latin typeface="Ubuntu Mono"/>
                <a:ea typeface="Ubuntu Mono"/>
                <a:cs typeface="Ubuntu Mono"/>
                <a:sym typeface="Ubuntu Mono"/>
              </a:rPr>
              <a:t>Джерела</a:t>
            </a:r>
            <a:endParaRPr sz="3000" u="sng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uk" sz="2500" u="sng" cap="none" strike="noStrike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3"/>
              </a:rPr>
              <a:t>https://git-scm.com/book/en/v2</a:t>
            </a:r>
            <a:r>
              <a:rPr b="0" i="0" lang="uk" sz="2500" u="sng" cap="none" strike="noStrike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b="0" i="0" lang="uk" sz="2500" u="sng" cap="none" strike="noStrike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4"/>
              </a:rPr>
              <a:t>https://www.w3schools.com/git/</a:t>
            </a:r>
            <a:r>
              <a:rPr b="0" i="0" lang="uk" sz="2500" u="sng" cap="none" strike="noStrike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b="0" i="0" lang="uk" sz="2500" u="sng" cap="none" strike="noStrike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5"/>
              </a:rPr>
              <a:t>https://learngitbranching.js.org/?locale=uk</a:t>
            </a:r>
            <a:endParaRPr b="0" i="0" sz="2500" u="sng" cap="none" strike="noStrike">
              <a:solidFill>
                <a:schemeClr val="hlink"/>
              </a:solidFill>
              <a:latin typeface="Ubuntu Mono"/>
              <a:ea typeface="Ubuntu Mono"/>
              <a:cs typeface="Ubuntu Mono"/>
              <a:sym typeface="Ubuntu Mono"/>
              <a:hlinkClick r:id="rId6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5169" y="481489"/>
            <a:ext cx="164592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3"/>
          <p:cNvPicPr preferRelativeResize="0"/>
          <p:nvPr/>
        </p:nvPicPr>
        <p:blipFill rotWithShape="1">
          <a:blip r:embed="rId3">
            <a:alphaModFix/>
          </a:blip>
          <a:srcRect b="12836" l="14193" r="13247" t="16285"/>
          <a:stretch/>
        </p:blipFill>
        <p:spPr>
          <a:xfrm>
            <a:off x="4157663" y="497205"/>
            <a:ext cx="4925377" cy="3609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Знімок екрана з 2022-10-23 22-54-10" id="201" name="Google Shape;2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" y="14288"/>
            <a:ext cx="3862388" cy="511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