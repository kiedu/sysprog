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F01439A-2F23-48BE-820B-5BF7F32297A8}">
  <a:tblStyle styleId="{4F01439A-2F23-48BE-820B-5BF7F32297A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fae783e1ed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fae783e1ed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fae783e1ed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fae783e1ed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fae783e1ed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fae783e1ed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fae783e1ed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fae783e1ed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fae783e1ed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fae783e1ed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fae783e1ed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fae783e1ed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fae783e1ed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fae783e1ed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fae783e1ed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fae783e1ed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rive.google.com/file/d/1NgvgUhJfyOwQI23iP34xnRgJuM_6H0PK/view?usp=drive_link" TargetMode="External"/><Relationship Id="rId4" Type="http://schemas.openxmlformats.org/officeDocument/2006/relationships/hyperlink" Target="https://suitt.edu.ua/wp-content/uploads/2024/04/systemne-prohramuvannia-c-i-c.pdf" TargetMode="External"/><Relationship Id="rId5" Type="http://schemas.openxmlformats.org/officeDocument/2006/relationships/hyperlink" Target="https://electronics.lnu.edu.ua/wp-content/uploads/2022_OK_27_syl.pdf" TargetMode="External"/><Relationship Id="rId6" Type="http://schemas.openxmlformats.org/officeDocument/2006/relationships/hyperlink" Target="https://e-tk.lntu.edu.ua/course/view.php?id=277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b.in.tum.de/teaching/ss19/c++praktikum/" TargetMode="External"/><Relationship Id="rId4" Type="http://schemas.openxmlformats.org/officeDocument/2006/relationships/hyperlink" Target="https://github.com/ls1-sys-prog-course/docs" TargetMode="External"/><Relationship Id="rId5" Type="http://schemas.openxmlformats.org/officeDocument/2006/relationships/hyperlink" Target="https://www.cs.cornell.edu/courses/cs4414/2023sp/Schedule.htm" TargetMode="External"/><Relationship Id="rId6" Type="http://schemas.openxmlformats.org/officeDocument/2006/relationships/hyperlink" Target="https://www3.nd.edu/~pbui/teaching/cse.20289.sp17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coursera.org/in/articles/system-programming" TargetMode="External"/><Relationship Id="rId4" Type="http://schemas.openxmlformats.org/officeDocument/2006/relationships/hyperlink" Target="https://www.youtube.com/watch?v=2lVDktWK-pc" TargetMode="External"/><Relationship Id="rId5" Type="http://schemas.openxmlformats.org/officeDocument/2006/relationships/hyperlink" Target="https://youtu.be/hnlz0YYCpBU" TargetMode="External"/><Relationship Id="rId6" Type="http://schemas.openxmlformats.org/officeDocument/2006/relationships/hyperlink" Target="https://www.youtube.com/watch?v=3PcIJKd1PKU" TargetMode="External"/><Relationship Id="rId7" Type="http://schemas.openxmlformats.org/officeDocument/2006/relationships/hyperlink" Target="https://www.youtube.com/watch?v=3PcIJKd1PKU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hyperlink" Target="https://github.com/hieplpvip/ubuntu_canon_printer" TargetMode="External"/><Relationship Id="rId6" Type="http://schemas.openxmlformats.org/officeDocument/2006/relationships/image" Target="../media/image1.png"/><Relationship Id="rId7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Introduction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66175" y="452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Overview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uk"/>
              <a:t>Системне програмування. Спеціальність 123 - КІ (Луцький національний технічний </a:t>
            </a:r>
            <a:r>
              <a:rPr lang="uk"/>
              <a:t>університет) </a:t>
            </a:r>
            <a:r>
              <a:rPr lang="uk" u="sng">
                <a:solidFill>
                  <a:schemeClr val="hlink"/>
                </a:solidFill>
                <a:hlinkClick r:id="rId3"/>
              </a:rPr>
              <a:t>https://drive.google.com/file/d/1NgvgUhJfyOwQI23iP34xnRgJuM_6H0PK/view?usp=drive_link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uk"/>
              <a:t>Системне програмування С і С++ (Державний університет інтелектуальних технологій і зв’язку. Одеса) </a:t>
            </a:r>
            <a:r>
              <a:rPr lang="uk" u="sng">
                <a:solidFill>
                  <a:schemeClr val="hlink"/>
                </a:solidFill>
                <a:hlinkClick r:id="rId4"/>
              </a:rPr>
              <a:t>https://suitt.edu.ua/wp-content/uploads/2024/04/systemne-prohramuvannia-c-i-c.pdf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uk"/>
              <a:t>Системне програмування (Факультет електроніки ЛНУ) </a:t>
            </a:r>
            <a:r>
              <a:rPr lang="uk" u="sng">
                <a:solidFill>
                  <a:schemeClr val="hlink"/>
                </a:solidFill>
                <a:hlinkClick r:id="rId5"/>
              </a:rPr>
              <a:t>https://electronics.lnu.edu.ua/wp-content/uploads/2022_OK_27_syl.pdf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uk"/>
              <a:t>Системне програмування. Спеціальність 123 - КІ (Технічний фаховий коледж Луцького національного технічного університету) </a:t>
            </a:r>
            <a:r>
              <a:rPr lang="uk" u="sng">
                <a:solidFill>
                  <a:schemeClr val="hlink"/>
                </a:solidFill>
                <a:hlinkClick r:id="rId6"/>
              </a:rPr>
              <a:t>https://e-tk.lntu.edu.ua/course/view.php?id=277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Overview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uk"/>
              <a:t>Systems Programming in C++ (Technische Universität München) </a:t>
            </a:r>
            <a:r>
              <a:rPr lang="uk" u="sng">
                <a:solidFill>
                  <a:schemeClr val="hlink"/>
                </a:solidFill>
                <a:hlinkClick r:id="rId3"/>
              </a:rPr>
              <a:t>https://db.in.tum.de/teaching/ss19/c++praktikum/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uk"/>
              <a:t>Practical course: Systems Programing (Chair of Distributed Systems &amp; Operating Systems at TU Munich) </a:t>
            </a:r>
            <a:r>
              <a:rPr lang="uk" u="sng">
                <a:solidFill>
                  <a:schemeClr val="hlink"/>
                </a:solidFill>
                <a:hlinkClick r:id="rId4"/>
              </a:rPr>
              <a:t>https://github.com/ls1-sys-prog-course/docs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uk"/>
              <a:t>CS4414:Systems Programing (Computer Science at Cornell University) </a:t>
            </a:r>
            <a:r>
              <a:rPr lang="uk" u="sng">
                <a:solidFill>
                  <a:schemeClr val="hlink"/>
                </a:solidFill>
                <a:hlinkClick r:id="rId5"/>
              </a:rPr>
              <a:t>https://www.cs.cornell.edu/courses/cs4414/2023sp/Schedule.htm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uk"/>
              <a:t>CSE 20289: Systems Programming (University of Notre Dame) </a:t>
            </a:r>
            <a:r>
              <a:rPr lang="uk" u="sng">
                <a:solidFill>
                  <a:schemeClr val="hlink"/>
                </a:solidFill>
                <a:hlinkClick r:id="rId6"/>
              </a:rPr>
              <a:t>https://www3.nd.edu/~pbui/teaching/cse.20289.sp17/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100" y="3107675"/>
            <a:ext cx="8839199" cy="188432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6"/>
          <p:cNvSpPr/>
          <p:nvPr/>
        </p:nvSpPr>
        <p:spPr>
          <a:xfrm>
            <a:off x="2701750" y="4614375"/>
            <a:ext cx="6366000" cy="29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0025" y="96425"/>
            <a:ext cx="2611450" cy="345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42672"/>
              <a:buNone/>
            </a:pPr>
            <a:r>
              <a:rPr b="1" lang="uk" sz="2320"/>
              <a:t>Системне програмування. </a:t>
            </a:r>
            <a:endParaRPr b="1" sz="23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42672"/>
              <a:buNone/>
            </a:pPr>
            <a:r>
              <a:rPr lang="uk" sz="2320"/>
              <a:t>Спеціальність: F5 Комп’ютерна інженерія (НЕФК) </a:t>
            </a:r>
            <a:endParaRPr sz="2320"/>
          </a:p>
        </p:txBody>
      </p:sp>
      <p:graphicFrame>
        <p:nvGraphicFramePr>
          <p:cNvPr id="80" name="Google Shape;80;p17"/>
          <p:cNvGraphicFramePr/>
          <p:nvPr/>
        </p:nvGraphicFramePr>
        <p:xfrm>
          <a:off x="873200" y="1887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{4F01439A-2F23-48BE-820B-5BF7F32297A8}</a:tableStyleId>
              </a:tblPr>
              <a:tblGrid>
                <a:gridCol w="2343150"/>
                <a:gridCol w="4924425"/>
              </a:tblGrid>
              <a:tr h="886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uk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Зміст дисципліни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Змістовий модуль 1. Вступ. Мови системного програмування.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Змістовий модуль 2. Програмування в системних оболонках на прикладі Bash.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Змістовий модуль 3. Основні засоби, конструкції та принципи програмування мовою Python.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Змістовий модуль 4. Візуальне програмування з використанням фреймворку pyQt.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About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uk"/>
              <a:t>What Is System Programming? </a:t>
            </a:r>
            <a:r>
              <a:rPr lang="uk" u="sng">
                <a:solidFill>
                  <a:schemeClr val="hlink"/>
                </a:solidFill>
                <a:hlinkClick r:id="rId3"/>
              </a:rPr>
              <a:t>https://www.coursera.org/in/articles/system-programming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uk"/>
              <a:t>The Programming Language Guide </a:t>
            </a:r>
            <a:r>
              <a:rPr lang="uk" u="sng">
                <a:solidFill>
                  <a:schemeClr val="hlink"/>
                </a:solidFill>
                <a:hlinkClick r:id="rId4"/>
              </a:rPr>
              <a:t>https://www.youtube.com/watch?v=2lVDktWK-pc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uk"/>
              <a:t>Python Vs C++ Vs Java! </a:t>
            </a:r>
            <a:r>
              <a:rPr lang="uk" u="sng">
                <a:solidFill>
                  <a:schemeClr val="hlink"/>
                </a:solidFill>
                <a:hlinkClick r:id="rId5"/>
              </a:rPr>
              <a:t>https://youtu.be/hnlz0YYCpBU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uk"/>
              <a:t>Python vs C/C++ vs Assembly side-by-side comparison </a:t>
            </a:r>
            <a:r>
              <a:rPr lang="uk" u="sng">
                <a:solidFill>
                  <a:schemeClr val="hlink"/>
                </a:solidFill>
                <a:hlinkClick r:id="rId6"/>
              </a:rPr>
              <a:t>h</a:t>
            </a:r>
            <a:r>
              <a:rPr lang="uk" u="sng">
                <a:solidFill>
                  <a:schemeClr val="hlink"/>
                </a:solidFill>
                <a:hlinkClick r:id="rId7"/>
              </a:rPr>
              <a:t>ttps://www.youtube.com/watch?v=3PcIJKd1PKU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223100" y="90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System software </a:t>
            </a:r>
            <a:r>
              <a:rPr lang="uk"/>
              <a:t>written in</a:t>
            </a:r>
            <a:r>
              <a:rPr lang="uk"/>
              <a:t> Bash</a:t>
            </a:r>
            <a:endParaRPr/>
          </a:p>
        </p:txBody>
      </p:sp>
      <p:pic>
        <p:nvPicPr>
          <p:cNvPr id="92" name="Google Shape;9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475" y="663300"/>
            <a:ext cx="3428699" cy="23356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5526725" y="1768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Canon LPB-</a:t>
            </a:r>
            <a:r>
              <a:rPr lang="uk"/>
              <a:t>6000B driver installer</a:t>
            </a:r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90525" y="577038"/>
            <a:ext cx="2571750" cy="17716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/>
          <p:nvPr/>
        </p:nvSpPr>
        <p:spPr>
          <a:xfrm>
            <a:off x="4704475" y="2263950"/>
            <a:ext cx="4998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u="sng">
                <a:solidFill>
                  <a:schemeClr val="hlink"/>
                </a:solidFill>
                <a:hlinkClick r:id="rId5"/>
              </a:rPr>
              <a:t>https://github.com/hieplpvip/ubuntu_canon_printer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51500" y="3299413"/>
            <a:ext cx="2743200" cy="16668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/>
          <p:cNvSpPr txBox="1"/>
          <p:nvPr/>
        </p:nvSpPr>
        <p:spPr>
          <a:xfrm>
            <a:off x="622425" y="40241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L</a:t>
            </a:r>
            <a:r>
              <a:rPr lang="uk"/>
              <a:t>inux init scripts</a:t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25325" y="3528025"/>
            <a:ext cx="1097100" cy="109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223100" y="90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System software written on Python</a:t>
            </a:r>
            <a:endParaRPr/>
          </a:p>
        </p:txBody>
      </p:sp>
      <p:pic>
        <p:nvPicPr>
          <p:cNvPr id="104" name="Google Shape;104;p20"/>
          <p:cNvPicPr preferRelativeResize="0"/>
          <p:nvPr/>
        </p:nvPicPr>
        <p:blipFill rotWithShape="1">
          <a:blip r:embed="rId3">
            <a:alphaModFix/>
          </a:blip>
          <a:srcRect b="0" l="0" r="50000" t="0"/>
          <a:stretch/>
        </p:blipFill>
        <p:spPr>
          <a:xfrm>
            <a:off x="554945" y="545150"/>
            <a:ext cx="8122332" cy="456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0175" y="1791278"/>
            <a:ext cx="5801774" cy="386127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Python everywhere </a:t>
            </a:r>
            <a:endParaRPr/>
          </a:p>
        </p:txBody>
      </p:sp>
      <p:pic>
        <p:nvPicPr>
          <p:cNvPr id="111" name="Google Shape;11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3550" y="106875"/>
            <a:ext cx="2865550" cy="223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075375"/>
            <a:ext cx="2990850" cy="153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250" y="2666550"/>
            <a:ext cx="3386700" cy="211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80364" y="751900"/>
            <a:ext cx="1864633" cy="139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